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2"/>
  </p:notesMasterIdLst>
  <p:sldIdLst>
    <p:sldId id="257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E6926-3F81-48B0-88CE-DCC65249E26E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9CD69-2D70-4AE1-B6CC-20EABB6C2D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5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1B041-3E3B-4D88-B710-BF7C3E08BD4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14BD-7569-4C3B-B1A5-7C441748691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A1BED-65FD-4B8F-A179-6B20FE47F76C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B032-6FE1-41E1-B327-197474CBB38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92F4B-7B0C-4122-AB35-8503C3BC0A4E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E33B-A6A5-4FB0-9105-6F7E93E0200A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0704-91C1-4D58-973B-D5A3808A2820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2979AF7C-906E-436B-8239-7EA602CF86C1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C64B91-99AB-4D3B-A919-A3C80305BE81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r>
              <a:rPr lang="en-US"/>
              <a:t>@Pixel Preadators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9B2A-A572-4836-8A79-77BA4053ADE0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CDC6-1DDE-429E-BC29-1D60698EBED2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DnDiag">
          <a:fgClr>
            <a:schemeClr val="accent1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74E115E5-5943-467D-A96A-54E4EC1FD3B8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@Pixel Preadators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7200" dirty="0"/>
              <a:t>PQC Sentinel</a:t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Quantum-Agile Gateway Defense for Digital Public Infrastructure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2286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71BD9-D665-1B4C-2DF0-CE81D5EE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/>
                </a:solidFill>
              </a:rPr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4072A-F74F-A639-D778-2E9162F7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3813" y="6515735"/>
            <a:ext cx="6818262" cy="365125"/>
          </a:xfrm>
        </p:spPr>
        <p:txBody>
          <a:bodyPr/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@Pixel </a:t>
            </a:r>
            <a:r>
              <a:rPr lang="en-US" dirty="0" err="1">
                <a:highlight>
                  <a:srgbClr val="000000"/>
                </a:highlight>
              </a:rPr>
              <a:t>Preadators</a:t>
            </a:r>
            <a:endParaRPr lang="en-US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7041-EAEA-E1A2-2A32-FBE3133E0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543" y="0"/>
            <a:ext cx="5984111" cy="6858000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r"/>
            <a:r>
              <a:rPr lang="en-US" sz="1200" dirty="0"/>
              <a:t>SOURCE : GEMINI</a:t>
            </a:r>
            <a:endParaRPr lang="en-IN" sz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2A665-1335-393F-C70C-DECD44A9D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0"/>
            <a:ext cx="4641447" cy="507254"/>
          </a:xfrm>
        </p:spPr>
        <p:txBody>
          <a:bodyPr>
            <a:noAutofit/>
          </a:bodyPr>
          <a:lstStyle/>
          <a:p>
            <a:r>
              <a:rPr lang="en-US" sz="3200" b="1" dirty="0"/>
              <a:t>STATEMENT :</a:t>
            </a:r>
            <a:br>
              <a:rPr lang="en-US" sz="3200" dirty="0"/>
            </a:br>
            <a:r>
              <a:rPr lang="en-US" sz="3200" dirty="0"/>
              <a:t>Post-quantum cryptography (PQC) migration for government systems</a:t>
            </a:r>
            <a:endParaRPr lang="en-IN" sz="32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5405ABE-3BAB-1591-F031-C98BFC587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044" y="2835797"/>
            <a:ext cx="5984111" cy="3750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08CB83-9DAB-54B0-3810-05581DE29332}"/>
                  </a:ext>
                </a:extLst>
              </p:cNvPr>
              <p:cNvSpPr txBox="1"/>
              <p:nvPr/>
            </p:nvSpPr>
            <p:spPr>
              <a:xfrm>
                <a:off x="6342927" y="392157"/>
                <a:ext cx="5393802" cy="566796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57150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1"/>
                <a:endParaRPr lang="en-IN" b="1" dirty="0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endParaRPr lang="en-IN" b="1" dirty="0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The HNDL Threat:</a:t>
                </a:r>
                <a:r>
                  <a:rPr lang="en-IN" dirty="0"/>
                  <a:t> Adversaries passively intercept and store encrypted state traffic (e.g., </a:t>
                </a:r>
                <a:r>
                  <a:rPr lang="en-IN" i="1" dirty="0"/>
                  <a:t>State </a:t>
                </a:r>
                <a:r>
                  <a:rPr lang="en-IN" i="1" dirty="0" err="1"/>
                  <a:t>Meebhoomi</a:t>
                </a:r>
                <a:r>
                  <a:rPr lang="en-IN" i="1" dirty="0"/>
                  <a:t> Land Records API</a:t>
                </a:r>
                <a:r>
                  <a:rPr lang="en-IN" dirty="0"/>
                  <a:t>) protected by classical public-key cryptosystems (RSA-2048 / ECC-256).</a:t>
                </a:r>
              </a:p>
              <a:p>
                <a:pPr lvl="1"/>
                <a:endParaRPr lang="en-IN" dirty="0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The Mathematical Vulnerability:</a:t>
                </a:r>
                <a:r>
                  <a:rPr lang="en-IN" dirty="0"/>
                  <a:t> Fault-Tolerant Quantum Computers (FTQCs) running Shor’s algorithm solve integer factorization and discrete logarithms in polynomial time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dirty="0"/>
                  <a:t>.</a:t>
                </a:r>
              </a:p>
              <a:p>
                <a:pPr lvl="1"/>
                <a:endParaRPr lang="en-IN" dirty="0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The Impact:</a:t>
                </a:r>
                <a:r>
                  <a:rPr lang="en-IN" dirty="0"/>
                  <a:t> Citizen records, land registries, and state secrets harvested today will become fully readable the moment quantum scale is achieved.</a:t>
                </a:r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marL="742950" lvl="1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08CB83-9DAB-54B0-3810-05581DE29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927" y="392157"/>
                <a:ext cx="5393802" cy="5667962"/>
              </a:xfrm>
              <a:prstGeom prst="rect">
                <a:avLst/>
              </a:prstGeom>
              <a:blipFill>
                <a:blip r:embed="rId3"/>
                <a:stretch>
                  <a:fillRect r="-1232"/>
                </a:stretch>
              </a:blipFill>
              <a:ln w="57150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6E2A1-D16B-81DB-C6CB-E2FE00D1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9E03-32D2-9D67-336F-1C7D2B6AC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49568" y="6465843"/>
            <a:ext cx="5334019" cy="365125"/>
          </a:xfrm>
        </p:spPr>
        <p:txBody>
          <a:bodyPr/>
          <a:lstStyle/>
          <a:p>
            <a:r>
              <a:rPr lang="en-US" dirty="0"/>
              <a:t>@Pixel </a:t>
            </a:r>
            <a:r>
              <a:rPr lang="en-US" dirty="0" err="1"/>
              <a:t>Preadators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1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5C876D-4676-7794-BA30-CA327DE4C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614" y="184724"/>
            <a:ext cx="4637161" cy="5632311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D2F081-AD8F-D91C-968A-1AE360E50398}"/>
              </a:ext>
            </a:extLst>
          </p:cNvPr>
          <p:cNvSpPr txBox="1"/>
          <p:nvPr/>
        </p:nvSpPr>
        <p:spPr>
          <a:xfrm>
            <a:off x="509887" y="404643"/>
            <a:ext cx="6539697" cy="56323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EXISTING SOLUTIONS :</a:t>
            </a:r>
          </a:p>
          <a:p>
            <a:pPr lvl="0"/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Module-Lattice-Based Key-Encapsulation Mechanism Standard ( FIPS 203 ) : </a:t>
            </a:r>
            <a:r>
              <a:rPr lang="en-US" dirty="0"/>
              <a:t>key-encapsulation mechanism (KEM) is a set of algorithms that, under certain conditions, can be used by two parties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Module-Lattice-Based Digital Signature Standard (FIPS 204):</a:t>
            </a:r>
            <a:r>
              <a:rPr lang="en-US" dirty="0"/>
              <a:t>Digital signatures are used to detect unauthorized modifications to data and to authenticate the identity of the signatory.ML-DSA is believed to be secure, even against adversaries in possession of a large-scale quantum computer</a:t>
            </a:r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r>
              <a:rPr lang="en-US" b="1" dirty="0"/>
              <a:t>LOOPHOLES :</a:t>
            </a:r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Loophole 1 (Algorithm Vulnerability): </a:t>
            </a:r>
            <a:r>
              <a:rPr lang="en-IN" dirty="0"/>
              <a:t>Existing TLS/IPsec tunnels rely on RSA/ECC key exchanges that completely lack lattice-based post-quantum mathematical resistance.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Loophole 2 ( </a:t>
            </a:r>
            <a:r>
              <a:rPr lang="en-IN" b="1" dirty="0" err="1"/>
              <a:t>Behavioral</a:t>
            </a:r>
            <a:r>
              <a:rPr lang="en-IN" b="1" dirty="0"/>
              <a:t> Blind Spot):</a:t>
            </a:r>
            <a:r>
              <a:rPr lang="en-IN" dirty="0"/>
              <a:t> Standard web application firewalls (WAFs) fail to detect micro-exfiltration patterns embedded inside legitimate API calls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4FC0C-2859-D4B1-9ACC-20ED894790F3}"/>
              </a:ext>
            </a:extLst>
          </p:cNvPr>
          <p:cNvSpPr txBox="1"/>
          <p:nvPr/>
        </p:nvSpPr>
        <p:spPr>
          <a:xfrm>
            <a:off x="10376179" y="6122430"/>
            <a:ext cx="152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 : GEMINI</a:t>
            </a:r>
            <a:endParaRPr lang="en-IN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FE949E-DDDF-5535-C21D-014201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36C15-FC42-CF49-0226-0DF47839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81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BDC5F3-95EA-FA13-CE11-712867DFF129}"/>
              </a:ext>
            </a:extLst>
          </p:cNvPr>
          <p:cNvSpPr txBox="1"/>
          <p:nvPr/>
        </p:nvSpPr>
        <p:spPr>
          <a:xfrm>
            <a:off x="150470" y="1749883"/>
            <a:ext cx="5150735" cy="41825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1"/>
            <a:r>
              <a:rPr lang="en-IN" b="1" dirty="0"/>
              <a:t>             </a:t>
            </a:r>
            <a:r>
              <a:rPr lang="en-IN" sz="2800" b="1" dirty="0"/>
              <a:t>OUR SOLUTION</a:t>
            </a: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Zero-Touch Integration</a:t>
            </a:r>
            <a:r>
              <a:rPr lang="en-IN" dirty="0"/>
              <a:t>: Operates as a crypto-agile reverse proxy layer (OpenSSL 3.0 / </a:t>
            </a:r>
            <a:r>
              <a:rPr lang="en-IN" dirty="0" err="1"/>
              <a:t>oqs</a:t>
            </a:r>
            <a:r>
              <a:rPr lang="en-IN" dirty="0"/>
              <a:t> - provider), requiring zero code changes to legacy backend databases.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Pure Quantum Execution Engines: </a:t>
            </a:r>
            <a:r>
              <a:rPr lang="en-IN" dirty="0"/>
              <a:t>Driven natively by </a:t>
            </a:r>
            <a:r>
              <a:rPr lang="en-IN" dirty="0" err="1"/>
              <a:t>Qiskit</a:t>
            </a:r>
            <a:r>
              <a:rPr lang="en-IN" dirty="0"/>
              <a:t> quantum circuits for threat </a:t>
            </a:r>
            <a:r>
              <a:rPr lang="en-IN" dirty="0" err="1"/>
              <a:t>modeling</a:t>
            </a:r>
            <a:r>
              <a:rPr lang="en-IN" dirty="0"/>
              <a:t> and automated 8-qubit QRNG seed generation.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Automated Mitigation:</a:t>
            </a:r>
            <a:r>
              <a:rPr lang="en-IN" dirty="0"/>
              <a:t> Instantly intercepts bulk exfiltration, hot-swaps session keys to NIST ML-KEM-768, and injects decoy honeypot bytes into the attacker’s buffer.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6A7A1-07D9-C569-B12A-8BC124273D53}"/>
              </a:ext>
            </a:extLst>
          </p:cNvPr>
          <p:cNvSpPr txBox="1"/>
          <p:nvPr/>
        </p:nvSpPr>
        <p:spPr>
          <a:xfrm>
            <a:off x="10389793" y="5778535"/>
            <a:ext cx="1404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 : GROK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49C12-3942-E7E2-E4D1-6C680889FBD9}"/>
              </a:ext>
            </a:extLst>
          </p:cNvPr>
          <p:cNvSpPr txBox="1"/>
          <p:nvPr/>
        </p:nvSpPr>
        <p:spPr>
          <a:xfrm>
            <a:off x="405114" y="169076"/>
            <a:ext cx="11389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PQC Sentinel: Quantum-Agile Gateway </a:t>
            </a:r>
            <a:r>
              <a:rPr lang="en-IN" sz="36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Defense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2BD800-7716-F866-2ECE-672FD7CE8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192" y="1915927"/>
            <a:ext cx="5917557" cy="385045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144C73-516F-D36C-C537-99121EF2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426E35-C12C-0729-FBBC-A062EEF8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9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288760-D0C7-B952-AB47-D2BA3A20A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640" y="1484453"/>
            <a:ext cx="5920070" cy="4421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868F7-1BC9-7231-35BD-129FFBB10ED4}"/>
              </a:ext>
            </a:extLst>
          </p:cNvPr>
          <p:cNvSpPr txBox="1"/>
          <p:nvPr/>
        </p:nvSpPr>
        <p:spPr>
          <a:xfrm>
            <a:off x="486137" y="1498922"/>
            <a:ext cx="4896091" cy="45243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System 1 (Backend Node): </a:t>
            </a:r>
            <a:r>
              <a:rPr lang="en-IN" dirty="0"/>
              <a:t>Executes </a:t>
            </a:r>
            <a:r>
              <a:rPr lang="en-IN" dirty="0" err="1"/>
              <a:t>Qiskit</a:t>
            </a:r>
            <a:r>
              <a:rPr lang="en-IN" dirty="0"/>
              <a:t> simulation algorithms, processes threat analytics, and manages session key rotation.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System 2 (Mobile HUD Node): </a:t>
            </a:r>
            <a:r>
              <a:rPr lang="en-IN" dirty="0"/>
              <a:t>Dedicated mobile display node that receives low-latency event pushes from System 1.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Data Flow:</a:t>
            </a:r>
            <a:r>
              <a:rPr lang="en-IN" dirty="0"/>
              <a:t> </a:t>
            </a:r>
          </a:p>
          <a:p>
            <a:pPr lvl="0" algn="ctr"/>
            <a:r>
              <a:rPr lang="en-IN" dirty="0"/>
              <a:t>      Attack trigger on System 1 </a:t>
            </a:r>
          </a:p>
          <a:p>
            <a:pPr lvl="0" algn="ctr"/>
            <a:endParaRPr lang="en-IN" dirty="0"/>
          </a:p>
          <a:p>
            <a:pPr lvl="0" algn="ctr"/>
            <a:endParaRPr lang="en-IN" dirty="0"/>
          </a:p>
          <a:p>
            <a:pPr lvl="0" algn="ctr"/>
            <a:r>
              <a:rPr lang="en-IN" dirty="0"/>
              <a:t>Encrypted alert payload emitted over WebSocket</a:t>
            </a:r>
          </a:p>
          <a:p>
            <a:pPr lvl="0" algn="ctr"/>
            <a:endParaRPr lang="en-IN" dirty="0"/>
          </a:p>
          <a:p>
            <a:pPr lvl="0" algn="ctr"/>
            <a:endParaRPr lang="en-IN" dirty="0"/>
          </a:p>
          <a:p>
            <a:pPr lvl="0" algn="ctr"/>
            <a:r>
              <a:rPr lang="en-IN" dirty="0"/>
              <a:t>Immediate full-screen HUD popup on System 2.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CD525E-E794-4F49-F00A-39471101B0CF}"/>
              </a:ext>
            </a:extLst>
          </p:cNvPr>
          <p:cNvCxnSpPr/>
          <p:nvPr/>
        </p:nvCxnSpPr>
        <p:spPr>
          <a:xfrm>
            <a:off x="2905246" y="4077183"/>
            <a:ext cx="0" cy="413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0CD4E3-9C14-DDF8-9E81-508E009DE211}"/>
              </a:ext>
            </a:extLst>
          </p:cNvPr>
          <p:cNvCxnSpPr/>
          <p:nvPr/>
        </p:nvCxnSpPr>
        <p:spPr>
          <a:xfrm>
            <a:off x="2905246" y="5225969"/>
            <a:ext cx="0" cy="413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007774-A32D-7F37-48FD-F06F2ACF3B66}"/>
              </a:ext>
            </a:extLst>
          </p:cNvPr>
          <p:cNvSpPr txBox="1"/>
          <p:nvPr/>
        </p:nvSpPr>
        <p:spPr>
          <a:xfrm>
            <a:off x="486137" y="289367"/>
            <a:ext cx="11267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Dual-Node Architecture &amp; Signal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F7F2F-3BA8-0C3B-4668-E958D59E04A2}"/>
              </a:ext>
            </a:extLst>
          </p:cNvPr>
          <p:cNvSpPr txBox="1"/>
          <p:nvPr/>
        </p:nvSpPr>
        <p:spPr>
          <a:xfrm>
            <a:off x="10372100" y="5884737"/>
            <a:ext cx="1333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SOURCE : GEMINI</a:t>
            </a:r>
            <a:endParaRPr lang="en-IN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68BAB0-B91B-9164-1F65-57623B83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32326F-E3DA-EC2E-F22F-A055507F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CDD43-9E1E-1D4A-B7C5-4393A293F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47" y="1646367"/>
            <a:ext cx="11239483" cy="4441917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1824ED-2474-2759-6E59-A5E75392E966}"/>
                  </a:ext>
                </a:extLst>
              </p:cNvPr>
              <p:cNvSpPr txBox="1"/>
              <p:nvPr/>
            </p:nvSpPr>
            <p:spPr>
              <a:xfrm flipH="1">
                <a:off x="450948" y="196770"/>
                <a:ext cx="113822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60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</a:rPr>
                  <a:t>Live Pipeline: Attack </a:t>
                </a:r>
                <a14:m>
                  <m:oMath xmlns:m="http://schemas.openxmlformats.org/officeDocument/2006/math">
                    <m:r>
                      <a:rPr lang="en-IN" sz="36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360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</a:rPr>
                  <a:t>Detection </a:t>
                </a:r>
                <a14:m>
                  <m:oMath xmlns:m="http://schemas.openxmlformats.org/officeDocument/2006/math">
                    <m:r>
                      <a:rPr lang="en-IN" sz="36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360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</a:rPr>
                  <a:t>Intercept </a:t>
                </a:r>
                <a14:m>
                  <m:oMath xmlns:m="http://schemas.openxmlformats.org/officeDocument/2006/math">
                    <m:r>
                      <a:rPr lang="en-IN" sz="36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3600" dirty="0">
                    <a:solidFill>
                      <a:schemeClr val="accent1">
                        <a:lumMod val="75000"/>
                      </a:schemeClr>
                    </a:solidFill>
                    <a:latin typeface="+mj-lt"/>
                  </a:rPr>
                  <a:t>Mobile Alert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1824ED-2474-2759-6E59-A5E75392E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0948" y="196770"/>
                <a:ext cx="11382235" cy="1200329"/>
              </a:xfrm>
              <a:prstGeom prst="rect">
                <a:avLst/>
              </a:prstGeom>
              <a:blipFill>
                <a:blip r:embed="rId3"/>
                <a:stretch>
                  <a:fillRect t="-7614" b="-182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0548D-31CD-EF53-B3C5-800AE85C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DD50F-CC7E-1564-9D03-367956C3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9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EC7B61-6032-2EA2-9984-5636DB065AD7}"/>
              </a:ext>
            </a:extLst>
          </p:cNvPr>
          <p:cNvSpPr txBox="1"/>
          <p:nvPr/>
        </p:nvSpPr>
        <p:spPr>
          <a:xfrm>
            <a:off x="2801429" y="1617627"/>
            <a:ext cx="62067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THANK YOU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EC76F-A2A5-6581-BDA5-B3E5091D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C10A1-1A2F-01F4-E64C-AAD94425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@Pixel Preadators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453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{5F741B13-7C77-4721-B458-B18AC14D4CDC}TFf0a5ceae-4542-492d-822e-d65a94fb0e1e3b562c5a_win32-009a0557e699</Template>
  <TotalTime>205</TotalTime>
  <Words>439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Bookman Old Style</vt:lpstr>
      <vt:lpstr>Calibri</vt:lpstr>
      <vt:lpstr>Cambria Math</vt:lpstr>
      <vt:lpstr>Franklin Gothic Book</vt:lpstr>
      <vt:lpstr>Wingdings</vt:lpstr>
      <vt:lpstr>Custom</vt:lpstr>
      <vt:lpstr>PQC Sentinel </vt:lpstr>
      <vt:lpstr>SOURCE : GEMINI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Ramana venkata</dc:creator>
  <cp:lastModifiedBy>ram sai</cp:lastModifiedBy>
  <cp:revision>4</cp:revision>
  <dcterms:created xsi:type="dcterms:W3CDTF">2026-09-09T04:15:30Z</dcterms:created>
  <dcterms:modified xsi:type="dcterms:W3CDTF">2026-09-09T07:44:52Z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